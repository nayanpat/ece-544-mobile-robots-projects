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9" r:id="rId4"/>
  </p:sldMasterIdLst>
  <p:notesMasterIdLst>
    <p:notesMasterId r:id="rId12"/>
  </p:notesMasterIdLst>
  <p:handoutMasterIdLst>
    <p:handoutMasterId r:id="rId13"/>
  </p:handoutMasterIdLst>
  <p:sldIdLst>
    <p:sldId id="256" r:id="rId5"/>
    <p:sldId id="265" r:id="rId6"/>
    <p:sldId id="273" r:id="rId7"/>
    <p:sldId id="266" r:id="rId8"/>
    <p:sldId id="274" r:id="rId9"/>
    <p:sldId id="275" r:id="rId10"/>
    <p:sldId id="27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14" autoAdjust="0"/>
    <p:restoredTop sz="92824" autoAdjust="0"/>
  </p:normalViewPr>
  <p:slideViewPr>
    <p:cSldViewPr snapToGrid="0">
      <p:cViewPr varScale="1">
        <p:scale>
          <a:sx n="95" d="100"/>
          <a:sy n="95" d="100"/>
        </p:scale>
        <p:origin x="108" y="360"/>
      </p:cViewPr>
      <p:guideLst/>
    </p:cSldViewPr>
  </p:slideViewPr>
  <p:notesTextViewPr>
    <p:cViewPr>
      <p:scale>
        <a:sx n="1" d="1"/>
        <a:sy n="1" d="1"/>
      </p:scale>
      <p:origin x="0" y="0"/>
    </p:cViewPr>
  </p:notesTextViewPr>
  <p:notesViewPr>
    <p:cSldViewPr snapToGrid="0">
      <p:cViewPr varScale="1">
        <p:scale>
          <a:sx n="60" d="100"/>
          <a:sy n="60" d="100"/>
        </p:scale>
        <p:origin x="1670" y="4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9B3372-74CF-4E21-A4D4-286B22AA5A6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63762BE-D43C-49F5-99A5-BF49C695927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B85766F-5EC0-4797-B4D1-777FCB005B11}" type="datetimeFigureOut">
              <a:rPr lang="en-US" smtClean="0"/>
              <a:t>4/16/2023</a:t>
            </a:fld>
            <a:endParaRPr lang="en-US" dirty="0"/>
          </a:p>
        </p:txBody>
      </p:sp>
      <p:sp>
        <p:nvSpPr>
          <p:cNvPr id="4" name="Footer Placeholder 3">
            <a:extLst>
              <a:ext uri="{FF2B5EF4-FFF2-40B4-BE49-F238E27FC236}">
                <a16:creationId xmlns:a16="http://schemas.microsoft.com/office/drawing/2014/main" id="{1989E452-9BCA-4AF5-9A9C-233BF410EAA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6BF9F63-CE4F-44E2-A07D-7E654DE9F5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0AC76B-F5B1-4D6E-BACD-2A80744AC929}" type="slidenum">
              <a:rPr lang="en-US" smtClean="0"/>
              <a:t>‹#›</a:t>
            </a:fld>
            <a:endParaRPr lang="en-US" dirty="0"/>
          </a:p>
        </p:txBody>
      </p:sp>
    </p:spTree>
    <p:extLst>
      <p:ext uri="{BB962C8B-B14F-4D97-AF65-F5344CB8AC3E}">
        <p14:creationId xmlns:p14="http://schemas.microsoft.com/office/powerpoint/2010/main" val="32051452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B4B5EC-152C-4627-80C0-63B10D5574EF}" type="datetimeFigureOut">
              <a:rPr lang="en-US" smtClean="0"/>
              <a:t>4/15/2023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EEE60E-651F-40CC-AD73-C00F10CE42B6}" type="slidenum">
              <a:rPr lang="en-US" smtClean="0"/>
              <a:t>‹#›</a:t>
            </a:fld>
            <a:endParaRPr lang="en-US" dirty="0"/>
          </a:p>
        </p:txBody>
      </p:sp>
    </p:spTree>
    <p:extLst>
      <p:ext uri="{BB962C8B-B14F-4D97-AF65-F5344CB8AC3E}">
        <p14:creationId xmlns:p14="http://schemas.microsoft.com/office/powerpoint/2010/main" val="2025417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endParaRPr lang="en-US" sz="1800" b="0" i="0" u="none" strike="noStrike" baseline="0" dirty="0">
              <a:solidFill>
                <a:srgbClr val="000000"/>
              </a:solidFill>
              <a:latin typeface="Charis SIL"/>
            </a:endParaRPr>
          </a:p>
          <a:p>
            <a:pPr algn="l"/>
            <a:r>
              <a:rPr lang="en-US" sz="1800" b="0" i="0" u="none" strike="noStrike" baseline="0" dirty="0">
                <a:solidFill>
                  <a:srgbClr val="000000"/>
                </a:solidFill>
                <a:latin typeface="Charis SIL"/>
              </a:rPr>
              <a:t> </a:t>
            </a:r>
            <a:r>
              <a:rPr lang="en-US" sz="1800" b="0" i="0" u="none" strike="noStrike" baseline="0" dirty="0" err="1">
                <a:solidFill>
                  <a:srgbClr val="000000"/>
                </a:solidFill>
                <a:latin typeface="Charis SIL"/>
              </a:rPr>
              <a:t>Changgeng</a:t>
            </a:r>
            <a:r>
              <a:rPr lang="en-US" sz="1800" b="0" i="0" u="none" strike="noStrike" baseline="0" dirty="0">
                <a:solidFill>
                  <a:srgbClr val="000000"/>
                </a:solidFill>
                <a:latin typeface="Charis SIL"/>
              </a:rPr>
              <a:t> Li , and other researchers (Xia Huang </a:t>
            </a:r>
            <a:r>
              <a:rPr lang="en-US" sz="1800" b="0" i="0" u="none" strike="noStrike" baseline="0" dirty="0">
                <a:solidFill>
                  <a:srgbClr val="2196D1"/>
                </a:solidFill>
                <a:latin typeface="Charis SIL"/>
              </a:rPr>
              <a:t>*</a:t>
            </a:r>
            <a:r>
              <a:rPr lang="en-US" sz="1800" b="0" i="0" u="none" strike="noStrike" baseline="0" dirty="0">
                <a:solidFill>
                  <a:srgbClr val="000000"/>
                </a:solidFill>
                <a:latin typeface="Charis SIL"/>
              </a:rPr>
              <a:t>, Jun Ding , Kun Song , </a:t>
            </a:r>
            <a:r>
              <a:rPr lang="en-US" sz="1800" b="0" i="0" u="none" strike="noStrike" baseline="0" dirty="0" err="1">
                <a:solidFill>
                  <a:srgbClr val="000000"/>
                </a:solidFill>
                <a:latin typeface="Charis SIL"/>
              </a:rPr>
              <a:t>Shiqing</a:t>
            </a:r>
            <a:r>
              <a:rPr lang="en-US" sz="1800" b="0" i="0" u="none" strike="noStrike" baseline="0" dirty="0">
                <a:solidFill>
                  <a:srgbClr val="000000"/>
                </a:solidFill>
                <a:latin typeface="Charis SIL"/>
              </a:rPr>
              <a:t> Lu) from </a:t>
            </a:r>
            <a:r>
              <a:rPr lang="en-US" sz="1800" b="0" i="1" u="none" strike="noStrike" baseline="0" dirty="0">
                <a:solidFill>
                  <a:srgbClr val="000000"/>
                </a:solidFill>
                <a:latin typeface="Charis SIL"/>
              </a:rPr>
              <a:t>College of Mechanical Engineering, Chongqing University of Technology, </a:t>
            </a:r>
            <a:r>
              <a:rPr lang="en-US" sz="1800" b="0" i="1" u="none" strike="noStrike" baseline="0" dirty="0" err="1">
                <a:solidFill>
                  <a:srgbClr val="000000"/>
                </a:solidFill>
                <a:latin typeface="Charis SIL"/>
              </a:rPr>
              <a:t>Banan</a:t>
            </a:r>
            <a:r>
              <a:rPr lang="en-US" sz="1800" b="0" i="1" u="none" strike="noStrike" baseline="0" dirty="0">
                <a:solidFill>
                  <a:srgbClr val="000000"/>
                </a:solidFill>
                <a:latin typeface="Charis SIL"/>
              </a:rPr>
              <a:t> 400054, China conducted a research to improve the A* search algorithm for better performance of a mobile robot in path planning step. </a:t>
            </a:r>
            <a:endParaRPr lang="en-US" dirty="0"/>
          </a:p>
        </p:txBody>
      </p:sp>
      <p:sp>
        <p:nvSpPr>
          <p:cNvPr id="4" name="Slide Number Placeholder 3"/>
          <p:cNvSpPr>
            <a:spLocks noGrp="1"/>
          </p:cNvSpPr>
          <p:nvPr>
            <p:ph type="sldNum" sz="quarter" idx="5"/>
          </p:nvPr>
        </p:nvSpPr>
        <p:spPr/>
        <p:txBody>
          <a:bodyPr/>
          <a:lstStyle/>
          <a:p>
            <a:fld id="{41EEE60E-651F-40CC-AD73-C00F10CE42B6}" type="slidenum">
              <a:rPr lang="en-US" smtClean="0"/>
              <a:t>1</a:t>
            </a:fld>
            <a:endParaRPr lang="en-US" dirty="0"/>
          </a:p>
        </p:txBody>
      </p:sp>
    </p:spTree>
    <p:extLst>
      <p:ext uri="{BB962C8B-B14F-4D97-AF65-F5344CB8AC3E}">
        <p14:creationId xmlns:p14="http://schemas.microsoft.com/office/powerpoint/2010/main" val="3820936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EEE60E-651F-40CC-AD73-C00F10CE42B6}" type="slidenum">
              <a:rPr lang="en-US" smtClean="0"/>
              <a:t>2</a:t>
            </a:fld>
            <a:endParaRPr lang="en-US" dirty="0"/>
          </a:p>
        </p:txBody>
      </p:sp>
    </p:spTree>
    <p:extLst>
      <p:ext uri="{BB962C8B-B14F-4D97-AF65-F5344CB8AC3E}">
        <p14:creationId xmlns:p14="http://schemas.microsoft.com/office/powerpoint/2010/main" val="12169758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EEE60E-651F-40CC-AD73-C00F10CE42B6}" type="slidenum">
              <a:rPr lang="en-US" smtClean="0"/>
              <a:t>3</a:t>
            </a:fld>
            <a:endParaRPr lang="en-US" dirty="0"/>
          </a:p>
        </p:txBody>
      </p:sp>
    </p:spTree>
    <p:extLst>
      <p:ext uri="{BB962C8B-B14F-4D97-AF65-F5344CB8AC3E}">
        <p14:creationId xmlns:p14="http://schemas.microsoft.com/office/powerpoint/2010/main" val="3910266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EEE60E-651F-40CC-AD73-C00F10CE42B6}" type="slidenum">
              <a:rPr lang="en-US" smtClean="0"/>
              <a:t>5</a:t>
            </a:fld>
            <a:endParaRPr lang="en-US" dirty="0"/>
          </a:p>
        </p:txBody>
      </p:sp>
    </p:spTree>
    <p:extLst>
      <p:ext uri="{BB962C8B-B14F-4D97-AF65-F5344CB8AC3E}">
        <p14:creationId xmlns:p14="http://schemas.microsoft.com/office/powerpoint/2010/main" val="17299100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EEE60E-651F-40CC-AD73-C00F10CE42B6}" type="slidenum">
              <a:rPr lang="en-US" smtClean="0"/>
              <a:t>6</a:t>
            </a:fld>
            <a:endParaRPr lang="en-US" dirty="0"/>
          </a:p>
        </p:txBody>
      </p:sp>
    </p:spTree>
    <p:extLst>
      <p:ext uri="{BB962C8B-B14F-4D97-AF65-F5344CB8AC3E}">
        <p14:creationId xmlns:p14="http://schemas.microsoft.com/office/powerpoint/2010/main" val="1768549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1EEE60E-651F-40CC-AD73-C00F10CE42B6}" type="slidenum">
              <a:rPr lang="en-US" smtClean="0"/>
              <a:t>7</a:t>
            </a:fld>
            <a:endParaRPr lang="en-US" dirty="0"/>
          </a:p>
        </p:txBody>
      </p:sp>
    </p:spTree>
    <p:extLst>
      <p:ext uri="{BB962C8B-B14F-4D97-AF65-F5344CB8AC3E}">
        <p14:creationId xmlns:p14="http://schemas.microsoft.com/office/powerpoint/2010/main" val="19228524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t>4/15/2023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14254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08808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42793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1615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082054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9566226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41419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0694011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942556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53284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4245466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052723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05531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69605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20160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3605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4/15/2023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187062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4/15/2023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76098732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8D3E5-C7A3-47DF-A374-46BF83A69904}"/>
              </a:ext>
            </a:extLst>
          </p:cNvPr>
          <p:cNvSpPr>
            <a:spLocks noGrp="1"/>
          </p:cNvSpPr>
          <p:nvPr>
            <p:ph type="ctrTitle"/>
          </p:nvPr>
        </p:nvSpPr>
        <p:spPr>
          <a:xfrm>
            <a:off x="1876424" y="1122363"/>
            <a:ext cx="9438020" cy="1279193"/>
          </a:xfrm>
        </p:spPr>
        <p:txBody>
          <a:bodyPr>
            <a:noAutofit/>
          </a:bodyPr>
          <a:lstStyle/>
          <a:p>
            <a:pPr algn="ctr"/>
            <a:r>
              <a:rPr lang="en-US" sz="3000" b="1" i="0" dirty="0">
                <a:solidFill>
                  <a:srgbClr val="000000"/>
                </a:solidFill>
                <a:effectLst/>
                <a:latin typeface="LatoWeb"/>
              </a:rPr>
              <a:t>Differential Drive Robot Targeting </a:t>
            </a:r>
            <a:r>
              <a:rPr lang="en-US" sz="3000" b="1" dirty="0">
                <a:solidFill>
                  <a:srgbClr val="000000"/>
                </a:solidFill>
                <a:latin typeface="LatoWeb"/>
              </a:rPr>
              <a:t>a waypoint and a pose</a:t>
            </a:r>
            <a:br>
              <a:rPr lang="en-US" sz="3000" b="1" dirty="0">
                <a:solidFill>
                  <a:srgbClr val="000000"/>
                </a:solidFill>
                <a:latin typeface="LatoWeb"/>
              </a:rPr>
            </a:br>
            <a:r>
              <a:rPr lang="en-US" sz="3000" b="1" dirty="0">
                <a:solidFill>
                  <a:srgbClr val="000000"/>
                </a:solidFill>
                <a:latin typeface="LatoWeb"/>
              </a:rPr>
              <a:t>- </a:t>
            </a:r>
            <a:r>
              <a:rPr lang="en-US" sz="3000" b="1" i="0" dirty="0">
                <a:solidFill>
                  <a:srgbClr val="000000"/>
                </a:solidFill>
                <a:effectLst/>
                <a:latin typeface="LatoWeb"/>
              </a:rPr>
              <a:t>Using Kinematic Models and a Closed Loop Feedback Controller</a:t>
            </a:r>
            <a:endParaRPr lang="en-US" sz="3000" b="1" dirty="0">
              <a:latin typeface="Rockwell" panose="02060603020205020403" pitchFamily="18" charset="0"/>
            </a:endParaRPr>
          </a:p>
        </p:txBody>
      </p:sp>
      <p:sp>
        <p:nvSpPr>
          <p:cNvPr id="3" name="Subtitle 2">
            <a:extLst>
              <a:ext uri="{FF2B5EF4-FFF2-40B4-BE49-F238E27FC236}">
                <a16:creationId xmlns:a16="http://schemas.microsoft.com/office/drawing/2014/main" id="{2E78725B-6E40-4D82-B375-7831D81C29EE}"/>
              </a:ext>
            </a:extLst>
          </p:cNvPr>
          <p:cNvSpPr>
            <a:spLocks noGrp="1"/>
          </p:cNvSpPr>
          <p:nvPr>
            <p:ph type="subTitle" idx="1"/>
          </p:nvPr>
        </p:nvSpPr>
        <p:spPr>
          <a:xfrm>
            <a:off x="2019299" y="3534735"/>
            <a:ext cx="8791575" cy="1655762"/>
          </a:xfrm>
        </p:spPr>
        <p:txBody>
          <a:bodyPr>
            <a:normAutofit/>
          </a:bodyPr>
          <a:lstStyle/>
          <a:p>
            <a:pPr algn="ctr"/>
            <a:r>
              <a:rPr lang="en-US" sz="2000" b="0" i="0" dirty="0">
                <a:solidFill>
                  <a:schemeClr val="bg1"/>
                </a:solidFill>
                <a:effectLst/>
                <a:latin typeface="Times New Roman" panose="02020603050405020304" pitchFamily="18" charset="0"/>
              </a:rPr>
              <a:t>Course: ECE 544-002, Winter 2023 </a:t>
            </a:r>
            <a:br>
              <a:rPr lang="en-US" sz="2000" dirty="0">
                <a:solidFill>
                  <a:schemeClr val="bg1"/>
                </a:solidFill>
              </a:rPr>
            </a:br>
            <a:r>
              <a:rPr lang="en-US" sz="2000" b="0" i="0" dirty="0">
                <a:solidFill>
                  <a:schemeClr val="bg1"/>
                </a:solidFill>
                <a:effectLst/>
                <a:latin typeface="Times New Roman" panose="02020603050405020304" pitchFamily="18" charset="0"/>
              </a:rPr>
              <a:t>By: Nayan Patel </a:t>
            </a:r>
            <a:br>
              <a:rPr lang="en-US" sz="2000" dirty="0">
                <a:solidFill>
                  <a:schemeClr val="bg1"/>
                </a:solidFill>
              </a:rPr>
            </a:br>
            <a:r>
              <a:rPr lang="en-US" sz="2000" b="0" i="0" dirty="0">
                <a:solidFill>
                  <a:schemeClr val="bg1"/>
                </a:solidFill>
                <a:effectLst/>
                <a:latin typeface="Times New Roman" panose="02020603050405020304" pitchFamily="18" charset="0"/>
              </a:rPr>
              <a:t>U</a:t>
            </a:r>
            <a:r>
              <a:rPr lang="en-US" sz="2000" b="0" i="0" cap="none" dirty="0">
                <a:solidFill>
                  <a:schemeClr val="bg1"/>
                </a:solidFill>
                <a:effectLst/>
                <a:latin typeface="Times New Roman" panose="02020603050405020304" pitchFamily="18" charset="0"/>
              </a:rPr>
              <a:t>o</a:t>
            </a:r>
            <a:r>
              <a:rPr lang="en-US" sz="2000" b="0" i="0" dirty="0">
                <a:solidFill>
                  <a:schemeClr val="bg1"/>
                </a:solidFill>
                <a:effectLst/>
                <a:latin typeface="Times New Roman" panose="02020603050405020304" pitchFamily="18" charset="0"/>
              </a:rPr>
              <a:t>M ID: 27900573</a:t>
            </a:r>
            <a:endParaRPr lang="en-US" sz="24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
        <p:nvSpPr>
          <p:cNvPr id="4" name="Subtitle 2">
            <a:extLst>
              <a:ext uri="{FF2B5EF4-FFF2-40B4-BE49-F238E27FC236}">
                <a16:creationId xmlns:a16="http://schemas.microsoft.com/office/drawing/2014/main" id="{F19F4FE4-FC5F-28AB-8586-4B166AA40D5B}"/>
              </a:ext>
            </a:extLst>
          </p:cNvPr>
          <p:cNvSpPr txBox="1">
            <a:spLocks/>
          </p:cNvSpPr>
          <p:nvPr/>
        </p:nvSpPr>
        <p:spPr>
          <a:xfrm>
            <a:off x="2199646" y="2401556"/>
            <a:ext cx="8791575" cy="494478"/>
          </a:xfrm>
          <a:prstGeom prst="rect">
            <a:avLst/>
          </a:prstGeom>
        </p:spPr>
        <p:txBody>
          <a:bodyPr vert="horz" lIns="91440" tIns="45720" rIns="91440" bIns="45720" rtlCol="0">
            <a:normAutofit fontScale="92500" lnSpcReduction="20000"/>
          </a:bodyPr>
          <a:lstStyle>
            <a:lvl1pPr marL="0" indent="0" algn="l" defTabSz="914400" rtl="0" eaLnBrk="1" latinLnBrk="0" hangingPunct="1">
              <a:lnSpc>
                <a:spcPct val="120000"/>
              </a:lnSpc>
              <a:spcBef>
                <a:spcPts val="1000"/>
              </a:spcBef>
              <a:buSzPct val="125000"/>
              <a:buFont typeface="Arial" panose="020B0604020202020204" pitchFamily="34" charset="0"/>
              <a:buNone/>
              <a:defRPr sz="2000" kern="1200" cap="all" baseline="0">
                <a:solidFill>
                  <a:schemeClr val="tx2"/>
                </a:solidFill>
                <a:latin typeface="+mn-lt"/>
                <a:ea typeface="+mn-ea"/>
                <a:cs typeface="+mn-cs"/>
              </a:defRPr>
            </a:lvl1pPr>
            <a:lvl2pPr marL="457200" indent="0" algn="ctr" defTabSz="914400" rtl="0" eaLnBrk="1" latinLnBrk="0" hangingPunct="1">
              <a:lnSpc>
                <a:spcPct val="120000"/>
              </a:lnSpc>
              <a:spcBef>
                <a:spcPts val="500"/>
              </a:spcBef>
              <a:buSzPct val="125000"/>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20000"/>
              </a:lnSpc>
              <a:spcBef>
                <a:spcPts val="500"/>
              </a:spcBef>
              <a:buSzPct val="125000"/>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120000"/>
              </a:lnSpc>
              <a:spcBef>
                <a:spcPts val="500"/>
              </a:spcBef>
              <a:buSzPct val="125000"/>
              <a:buFont typeface="Arial" panose="020B0604020202020204" pitchFamily="34" charset="0"/>
              <a:buNone/>
              <a:defRPr sz="1600" kern="1200">
                <a:solidFill>
                  <a:schemeClr val="tx1"/>
                </a:solidFill>
                <a:latin typeface="+mn-lt"/>
                <a:ea typeface="+mn-ea"/>
                <a:cs typeface="+mn-cs"/>
              </a:defRPr>
            </a:lvl9pPr>
          </a:lstStyle>
          <a:p>
            <a:pPr algn="ctr"/>
            <a:r>
              <a:rPr lang="en-US" sz="2800" cap="none" dirty="0">
                <a:solidFill>
                  <a:schemeClr val="bg1"/>
                </a:solidFill>
                <a:latin typeface="Times New Roman" panose="02020603050405020304" pitchFamily="18" charset="0"/>
              </a:rPr>
              <a:t>Project Update &amp; Lesson Learned</a:t>
            </a:r>
          </a:p>
        </p:txBody>
      </p:sp>
    </p:spTree>
    <p:extLst>
      <p:ext uri="{BB962C8B-B14F-4D97-AF65-F5344CB8AC3E}">
        <p14:creationId xmlns:p14="http://schemas.microsoft.com/office/powerpoint/2010/main" val="1819359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2" y="618519"/>
            <a:ext cx="10179117" cy="733764"/>
          </a:xfrm>
        </p:spPr>
        <p:txBody>
          <a:bodyPr>
            <a:noAutofit/>
          </a:bodyPr>
          <a:lstStyle/>
          <a:p>
            <a:r>
              <a:rPr lang="en-US" sz="2800" dirty="0">
                <a:solidFill>
                  <a:schemeClr val="bg1"/>
                </a:solidFill>
                <a:latin typeface="Rockwell" panose="02060603020205020403" pitchFamily="18" charset="0"/>
              </a:rPr>
              <a:t>Project overview</a:t>
            </a:r>
          </a:p>
        </p:txBody>
      </p:sp>
      <p:sp>
        <p:nvSpPr>
          <p:cNvPr id="5" name="Content Placeholder 4">
            <a:extLst>
              <a:ext uri="{FF2B5EF4-FFF2-40B4-BE49-F238E27FC236}">
                <a16:creationId xmlns:a16="http://schemas.microsoft.com/office/drawing/2014/main" id="{56B56F83-F4E2-10C4-26BE-D323DADF8120}"/>
              </a:ext>
            </a:extLst>
          </p:cNvPr>
          <p:cNvSpPr>
            <a:spLocks noGrp="1"/>
          </p:cNvSpPr>
          <p:nvPr>
            <p:ph idx="1"/>
          </p:nvPr>
        </p:nvSpPr>
        <p:spPr>
          <a:xfrm>
            <a:off x="1141412" y="1545465"/>
            <a:ext cx="9905999" cy="4694015"/>
          </a:xfrm>
        </p:spPr>
        <p:txBody>
          <a:bodyPr>
            <a:normAutofit fontScale="85000" lnSpcReduction="10000"/>
          </a:bodyPr>
          <a:lstStyle/>
          <a:p>
            <a:r>
              <a:rPr lang="en-US" dirty="0">
                <a:solidFill>
                  <a:schemeClr val="bg1"/>
                </a:solidFill>
              </a:rPr>
              <a:t>Main goal is to drive a differential robot to a desired waypoint (x, y) and stop there with a desired pose (</a:t>
            </a:r>
            <a:r>
              <a:rPr lang="el-GR" dirty="0">
                <a:solidFill>
                  <a:schemeClr val="bg1"/>
                </a:solidFill>
              </a:rPr>
              <a:t>θ</a:t>
            </a:r>
            <a:r>
              <a:rPr lang="en-US" dirty="0">
                <a:solidFill>
                  <a:schemeClr val="bg1"/>
                </a:solidFill>
              </a:rPr>
              <a:t>)</a:t>
            </a:r>
          </a:p>
          <a:p>
            <a:r>
              <a:rPr lang="en-US" dirty="0">
                <a:solidFill>
                  <a:schemeClr val="bg1"/>
                </a:solidFill>
              </a:rPr>
              <a:t>The robot system uses a feedback controller, inverse kinematics model, sensors and actuators </a:t>
            </a:r>
          </a:p>
          <a:p>
            <a:r>
              <a:rPr lang="en-US" dirty="0">
                <a:solidFill>
                  <a:schemeClr val="bg1"/>
                </a:solidFill>
              </a:rPr>
              <a:t>Following HW components are used:</a:t>
            </a:r>
          </a:p>
          <a:p>
            <a:pPr lvl="1">
              <a:buFont typeface="Wingdings" panose="05000000000000000000" pitchFamily="2" charset="2"/>
              <a:buChar char="§"/>
            </a:pPr>
            <a:r>
              <a:rPr lang="en-US" dirty="0">
                <a:solidFill>
                  <a:schemeClr val="bg1"/>
                </a:solidFill>
              </a:rPr>
              <a:t>Arduino UNO </a:t>
            </a:r>
            <a:r>
              <a:rPr lang="en-US" dirty="0" err="1">
                <a:solidFill>
                  <a:schemeClr val="bg1"/>
                </a:solidFill>
              </a:rPr>
              <a:t>WiFi</a:t>
            </a:r>
            <a:r>
              <a:rPr lang="en-US" dirty="0">
                <a:solidFill>
                  <a:schemeClr val="bg1"/>
                </a:solidFill>
              </a:rPr>
              <a:t> Microcontroller Board (1 No.)</a:t>
            </a:r>
          </a:p>
          <a:p>
            <a:pPr lvl="1">
              <a:buFont typeface="Wingdings" panose="05000000000000000000" pitchFamily="2" charset="2"/>
              <a:buChar char="§"/>
            </a:pPr>
            <a:r>
              <a:rPr lang="en-US" dirty="0">
                <a:solidFill>
                  <a:schemeClr val="bg1"/>
                </a:solidFill>
              </a:rPr>
              <a:t>L298N Motor Control Drive (1 No.)</a:t>
            </a:r>
          </a:p>
          <a:p>
            <a:pPr lvl="1">
              <a:buFont typeface="Wingdings" panose="05000000000000000000" pitchFamily="2" charset="2"/>
              <a:buChar char="§"/>
            </a:pPr>
            <a:r>
              <a:rPr lang="en-US" dirty="0">
                <a:solidFill>
                  <a:schemeClr val="bg1"/>
                </a:solidFill>
              </a:rPr>
              <a:t>BNO055 9-Axis Absolute Orientation IMU Sensor (1 No.)</a:t>
            </a:r>
          </a:p>
          <a:p>
            <a:pPr lvl="1">
              <a:buFont typeface="Wingdings" panose="05000000000000000000" pitchFamily="2" charset="2"/>
              <a:buChar char="§"/>
            </a:pPr>
            <a:r>
              <a:rPr lang="en-US" dirty="0">
                <a:solidFill>
                  <a:schemeClr val="bg1"/>
                </a:solidFill>
              </a:rPr>
              <a:t>DC Motor with Magnetic Rotary Encoder (2 Nos.) </a:t>
            </a:r>
          </a:p>
          <a:p>
            <a:pPr lvl="1">
              <a:buFont typeface="Wingdings" panose="05000000000000000000" pitchFamily="2" charset="2"/>
              <a:buChar char="§"/>
            </a:pPr>
            <a:r>
              <a:rPr lang="en-US" dirty="0">
                <a:solidFill>
                  <a:schemeClr val="bg1"/>
                </a:solidFill>
              </a:rPr>
              <a:t>Wheels (2 Nos.)</a:t>
            </a:r>
          </a:p>
          <a:p>
            <a:pPr lvl="1">
              <a:buFont typeface="Wingdings" panose="05000000000000000000" pitchFamily="2" charset="2"/>
              <a:buChar char="§"/>
            </a:pPr>
            <a:r>
              <a:rPr lang="en-US" dirty="0">
                <a:solidFill>
                  <a:schemeClr val="bg1"/>
                </a:solidFill>
              </a:rPr>
              <a:t>2004 20x4 LCD Display (1 No.)</a:t>
            </a:r>
          </a:p>
          <a:p>
            <a:pPr lvl="1">
              <a:buFont typeface="Wingdings" panose="05000000000000000000" pitchFamily="2" charset="2"/>
              <a:buChar char="§"/>
            </a:pPr>
            <a:r>
              <a:rPr lang="en-US" dirty="0">
                <a:solidFill>
                  <a:schemeClr val="bg1"/>
                </a:solidFill>
              </a:rPr>
              <a:t>6V DC Power Bank (1.5Vx4 AA Batteries) (1 No.)</a:t>
            </a:r>
          </a:p>
          <a:p>
            <a:pPr lvl="1">
              <a:buFont typeface="Wingdings" panose="05000000000000000000" pitchFamily="2" charset="2"/>
              <a:buChar char="§"/>
            </a:pPr>
            <a:r>
              <a:rPr lang="en-US" dirty="0">
                <a:solidFill>
                  <a:schemeClr val="bg1"/>
                </a:solidFill>
              </a:rPr>
              <a:t>Breadboard (1 No.)</a:t>
            </a:r>
          </a:p>
          <a:p>
            <a:endParaRPr lang="en-US" dirty="0">
              <a:solidFill>
                <a:schemeClr val="bg1"/>
              </a:solidFill>
            </a:endParaRPr>
          </a:p>
        </p:txBody>
      </p:sp>
    </p:spTree>
    <p:extLst>
      <p:ext uri="{BB962C8B-B14F-4D97-AF65-F5344CB8AC3E}">
        <p14:creationId xmlns:p14="http://schemas.microsoft.com/office/powerpoint/2010/main" val="4202769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2" y="618519"/>
            <a:ext cx="10179117" cy="733764"/>
          </a:xfrm>
        </p:spPr>
        <p:txBody>
          <a:bodyPr>
            <a:noAutofit/>
          </a:bodyPr>
          <a:lstStyle/>
          <a:p>
            <a:r>
              <a:rPr lang="en-US" sz="2800" dirty="0">
                <a:solidFill>
                  <a:schemeClr val="bg1"/>
                </a:solidFill>
                <a:latin typeface="Rockwell" panose="02060603020205020403" pitchFamily="18" charset="0"/>
              </a:rPr>
              <a:t>System block diagram</a:t>
            </a:r>
          </a:p>
        </p:txBody>
      </p:sp>
      <p:pic>
        <p:nvPicPr>
          <p:cNvPr id="7" name="Content Placeholder 6">
            <a:extLst>
              <a:ext uri="{FF2B5EF4-FFF2-40B4-BE49-F238E27FC236}">
                <a16:creationId xmlns:a16="http://schemas.microsoft.com/office/drawing/2014/main" id="{B56048B1-ACCA-084B-8EF3-E5615C9363D9}"/>
              </a:ext>
            </a:extLst>
          </p:cNvPr>
          <p:cNvPicPr>
            <a:picLocks noGrp="1" noChangeAspect="1"/>
          </p:cNvPicPr>
          <p:nvPr>
            <p:ph idx="1"/>
          </p:nvPr>
        </p:nvPicPr>
        <p:blipFill>
          <a:blip r:embed="rId3"/>
          <a:stretch>
            <a:fillRect/>
          </a:stretch>
        </p:blipFill>
        <p:spPr>
          <a:xfrm>
            <a:off x="1407320" y="1352283"/>
            <a:ext cx="9377359" cy="4692650"/>
          </a:xfrm>
        </p:spPr>
      </p:pic>
    </p:spTree>
    <p:extLst>
      <p:ext uri="{BB962C8B-B14F-4D97-AF65-F5344CB8AC3E}">
        <p14:creationId xmlns:p14="http://schemas.microsoft.com/office/powerpoint/2010/main" val="20738246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2" y="618519"/>
            <a:ext cx="10179117" cy="733764"/>
          </a:xfrm>
        </p:spPr>
        <p:txBody>
          <a:bodyPr>
            <a:noAutofit/>
          </a:bodyPr>
          <a:lstStyle/>
          <a:p>
            <a:r>
              <a:rPr lang="en-US" sz="2800" dirty="0">
                <a:solidFill>
                  <a:schemeClr val="bg1"/>
                </a:solidFill>
                <a:latin typeface="Rockwell" panose="02060603020205020403" pitchFamily="18" charset="0"/>
              </a:rPr>
              <a:t>Hardware  schematic</a:t>
            </a:r>
          </a:p>
        </p:txBody>
      </p:sp>
      <p:pic>
        <p:nvPicPr>
          <p:cNvPr id="4" name="Content Placeholder 3">
            <a:extLst>
              <a:ext uri="{FF2B5EF4-FFF2-40B4-BE49-F238E27FC236}">
                <a16:creationId xmlns:a16="http://schemas.microsoft.com/office/drawing/2014/main" id="{E44EB2E0-0450-6853-E351-3F842CB738CC}"/>
              </a:ext>
            </a:extLst>
          </p:cNvPr>
          <p:cNvPicPr>
            <a:picLocks noGrp="1" noChangeAspect="1"/>
          </p:cNvPicPr>
          <p:nvPr>
            <p:ph idx="1"/>
          </p:nvPr>
        </p:nvPicPr>
        <p:blipFill>
          <a:blip r:embed="rId3"/>
          <a:stretch>
            <a:fillRect/>
          </a:stretch>
        </p:blipFill>
        <p:spPr>
          <a:xfrm>
            <a:off x="3428999" y="457200"/>
            <a:ext cx="7672152" cy="6339147"/>
          </a:xfrm>
        </p:spPr>
      </p:pic>
    </p:spTree>
    <p:extLst>
      <p:ext uri="{BB962C8B-B14F-4D97-AF65-F5344CB8AC3E}">
        <p14:creationId xmlns:p14="http://schemas.microsoft.com/office/powerpoint/2010/main" val="3774697795"/>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2" y="618519"/>
            <a:ext cx="10179117" cy="733764"/>
          </a:xfrm>
        </p:spPr>
        <p:txBody>
          <a:bodyPr>
            <a:noAutofit/>
          </a:bodyPr>
          <a:lstStyle/>
          <a:p>
            <a:r>
              <a:rPr lang="en-US" sz="2800" dirty="0">
                <a:solidFill>
                  <a:schemeClr val="bg1"/>
                </a:solidFill>
                <a:latin typeface="Rockwell" panose="02060603020205020403" pitchFamily="18" charset="0"/>
              </a:rPr>
              <a:t>Odometry formulas used in the project</a:t>
            </a:r>
          </a:p>
        </p:txBody>
      </p:sp>
      <p:pic>
        <p:nvPicPr>
          <p:cNvPr id="1026" name="Picture 2" descr="enter image description here">
            <a:extLst>
              <a:ext uri="{FF2B5EF4-FFF2-40B4-BE49-F238E27FC236}">
                <a16:creationId xmlns:a16="http://schemas.microsoft.com/office/drawing/2014/main" id="{8CABFBC4-7017-28CD-B061-0268150A74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1413" y="1352284"/>
            <a:ext cx="5639318" cy="472697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enter image description here">
            <a:extLst>
              <a:ext uri="{FF2B5EF4-FFF2-40B4-BE49-F238E27FC236}">
                <a16:creationId xmlns:a16="http://schemas.microsoft.com/office/drawing/2014/main" id="{FDBCA821-7B25-4534-8096-0CAEC58A9A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80731" y="1352283"/>
            <a:ext cx="5341030" cy="164447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B1F5372-898D-D511-650A-472DCA961694}"/>
              </a:ext>
            </a:extLst>
          </p:cNvPr>
          <p:cNvSpPr txBox="1"/>
          <p:nvPr/>
        </p:nvSpPr>
        <p:spPr>
          <a:xfrm>
            <a:off x="1602711" y="6239481"/>
            <a:ext cx="9828349" cy="246221"/>
          </a:xfrm>
          <a:prstGeom prst="rect">
            <a:avLst/>
          </a:prstGeom>
          <a:noFill/>
        </p:spPr>
        <p:txBody>
          <a:bodyPr wrap="square">
            <a:spAutoFit/>
          </a:bodyPr>
          <a:lstStyle/>
          <a:p>
            <a:r>
              <a:rPr lang="en-US" sz="1000" dirty="0">
                <a:solidFill>
                  <a:schemeClr val="bg1"/>
                </a:solidFill>
              </a:rPr>
              <a:t>https://robotics.stackexchange.com/questions/4384/translation-the-shaft-encoder-data</a:t>
            </a:r>
          </a:p>
        </p:txBody>
      </p:sp>
    </p:spTree>
    <p:extLst>
      <p:ext uri="{BB962C8B-B14F-4D97-AF65-F5344CB8AC3E}">
        <p14:creationId xmlns:p14="http://schemas.microsoft.com/office/powerpoint/2010/main" val="3623608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2" y="618519"/>
            <a:ext cx="10179117" cy="733764"/>
          </a:xfrm>
        </p:spPr>
        <p:txBody>
          <a:bodyPr>
            <a:noAutofit/>
          </a:bodyPr>
          <a:lstStyle/>
          <a:p>
            <a:r>
              <a:rPr lang="en-US" sz="2800" dirty="0">
                <a:solidFill>
                  <a:schemeClr val="bg1"/>
                </a:solidFill>
                <a:latin typeface="Rockwell" panose="02060603020205020403" pitchFamily="18" charset="0"/>
              </a:rPr>
              <a:t>problem faced and solved</a:t>
            </a:r>
          </a:p>
        </p:txBody>
      </p:sp>
      <p:sp>
        <p:nvSpPr>
          <p:cNvPr id="5" name="Content Placeholder 4">
            <a:extLst>
              <a:ext uri="{FF2B5EF4-FFF2-40B4-BE49-F238E27FC236}">
                <a16:creationId xmlns:a16="http://schemas.microsoft.com/office/drawing/2014/main" id="{56B56F83-F4E2-10C4-26BE-D323DADF8120}"/>
              </a:ext>
            </a:extLst>
          </p:cNvPr>
          <p:cNvSpPr>
            <a:spLocks noGrp="1"/>
          </p:cNvSpPr>
          <p:nvPr>
            <p:ph idx="1"/>
          </p:nvPr>
        </p:nvSpPr>
        <p:spPr>
          <a:xfrm>
            <a:off x="1141412" y="1352283"/>
            <a:ext cx="9905999" cy="5108807"/>
          </a:xfrm>
        </p:spPr>
        <p:txBody>
          <a:bodyPr>
            <a:normAutofit fontScale="77500" lnSpcReduction="20000"/>
          </a:bodyPr>
          <a:lstStyle/>
          <a:p>
            <a:pPr marL="457200" indent="-457200">
              <a:buFont typeface="+mj-lt"/>
              <a:buAutoNum type="arabicPeriod"/>
            </a:pPr>
            <a:r>
              <a:rPr lang="en-US" u="sng" dirty="0">
                <a:solidFill>
                  <a:schemeClr val="bg1"/>
                </a:solidFill>
              </a:rPr>
              <a:t>Problem:</a:t>
            </a:r>
            <a:r>
              <a:rPr lang="en-US" dirty="0">
                <a:solidFill>
                  <a:schemeClr val="bg1"/>
                </a:solidFill>
              </a:rPr>
              <a:t> When calculated the angular position by integrating the acceleration value from Arduino’s in-built IMU over time, an erroneous value was observed which wasn’t usable at all.  That was due to the noise in the sensor output.</a:t>
            </a:r>
          </a:p>
          <a:p>
            <a:pPr marL="457200" lvl="1" indent="0">
              <a:buNone/>
            </a:pPr>
            <a:r>
              <a:rPr lang="en-US" sz="2400" u="sng" dirty="0">
                <a:solidFill>
                  <a:schemeClr val="bg1"/>
                </a:solidFill>
              </a:rPr>
              <a:t>Solution:</a:t>
            </a:r>
            <a:r>
              <a:rPr lang="en-US" sz="2400" dirty="0">
                <a:solidFill>
                  <a:schemeClr val="bg1"/>
                </a:solidFill>
              </a:rPr>
              <a:t> Added BNO055 9-Axis Absolute Accelerometer that directly provides angular positions and it’s pretty accurate for this application</a:t>
            </a:r>
          </a:p>
          <a:p>
            <a:pPr marL="457200" indent="-457200">
              <a:buFont typeface="+mj-lt"/>
              <a:buAutoNum type="arabicPeriod"/>
            </a:pPr>
            <a:r>
              <a:rPr lang="en-US" u="sng" dirty="0">
                <a:solidFill>
                  <a:schemeClr val="bg1"/>
                </a:solidFill>
              </a:rPr>
              <a:t>Problem:</a:t>
            </a:r>
            <a:r>
              <a:rPr lang="en-US" dirty="0">
                <a:solidFill>
                  <a:schemeClr val="bg1"/>
                </a:solidFill>
              </a:rPr>
              <a:t> The default I2C address for the BNO055 did not work at first </a:t>
            </a:r>
          </a:p>
          <a:p>
            <a:pPr marL="457200" lvl="1" indent="0">
              <a:buNone/>
            </a:pPr>
            <a:r>
              <a:rPr lang="en-US" sz="2400" u="sng" dirty="0">
                <a:solidFill>
                  <a:schemeClr val="bg1"/>
                </a:solidFill>
              </a:rPr>
              <a:t>Solution:</a:t>
            </a:r>
            <a:r>
              <a:rPr lang="en-US" sz="2400" dirty="0">
                <a:solidFill>
                  <a:schemeClr val="bg1"/>
                </a:solidFill>
              </a:rPr>
              <a:t> Several attempts were made to debug the issue but later found that the I2C ports were incorrectly defined in the code</a:t>
            </a:r>
          </a:p>
          <a:p>
            <a:pPr marL="457200" indent="-457200">
              <a:buFont typeface="+mj-lt"/>
              <a:buAutoNum type="arabicPeriod"/>
            </a:pPr>
            <a:r>
              <a:rPr lang="en-US" u="sng" dirty="0">
                <a:solidFill>
                  <a:schemeClr val="bg1"/>
                </a:solidFill>
              </a:rPr>
              <a:t>Problem:</a:t>
            </a:r>
            <a:r>
              <a:rPr lang="en-US" dirty="0">
                <a:solidFill>
                  <a:schemeClr val="bg1"/>
                </a:solidFill>
              </a:rPr>
              <a:t> The gear ratio of the DC motor wasn’t available from the supplier.  Without gear ration, no. of revolution cannot be calculated and hence, no linear wheel displacement will be known</a:t>
            </a:r>
          </a:p>
          <a:p>
            <a:pPr marL="457200" lvl="1" indent="0">
              <a:buNone/>
            </a:pPr>
            <a:r>
              <a:rPr lang="en-US" sz="2400" u="sng" dirty="0">
                <a:solidFill>
                  <a:schemeClr val="bg1"/>
                </a:solidFill>
              </a:rPr>
              <a:t>Solution:</a:t>
            </a:r>
            <a:r>
              <a:rPr lang="en-US" sz="2400" dirty="0">
                <a:solidFill>
                  <a:schemeClr val="bg1"/>
                </a:solidFill>
              </a:rPr>
              <a:t> Reverse engineering was done to find out the exact gear ratio.  The motor was rotated for one exact revolution and the pulse counts received from encoder was used in following formula to find the gear ratio:</a:t>
            </a:r>
          </a:p>
          <a:p>
            <a:pPr marL="457200" lvl="1" indent="0">
              <a:buNone/>
            </a:pPr>
            <a:r>
              <a:rPr lang="en-US" sz="2400" dirty="0">
                <a:solidFill>
                  <a:schemeClr val="bg1"/>
                </a:solidFill>
              </a:rPr>
              <a:t>Gear Ratio = Current Pulse Counts from Encoder / No of Pulses In One Revolution</a:t>
            </a:r>
          </a:p>
          <a:p>
            <a:pPr marL="0" indent="0">
              <a:buNone/>
            </a:pPr>
            <a:endParaRPr lang="en-US" dirty="0">
              <a:solidFill>
                <a:schemeClr val="bg1"/>
              </a:solidFill>
            </a:endParaRPr>
          </a:p>
          <a:p>
            <a:pPr marL="457200" indent="-457200">
              <a:buFont typeface="+mj-lt"/>
              <a:buAutoNum type="arabicPeriod"/>
            </a:pPr>
            <a:endParaRPr lang="en-US" dirty="0">
              <a:solidFill>
                <a:schemeClr val="bg1"/>
              </a:solidFill>
            </a:endParaRPr>
          </a:p>
        </p:txBody>
      </p:sp>
    </p:spTree>
    <p:extLst>
      <p:ext uri="{BB962C8B-B14F-4D97-AF65-F5344CB8AC3E}">
        <p14:creationId xmlns:p14="http://schemas.microsoft.com/office/powerpoint/2010/main" val="2919395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6CE4-2B13-4715-B5B2-615A55922CA1}"/>
              </a:ext>
            </a:extLst>
          </p:cNvPr>
          <p:cNvSpPr>
            <a:spLocks noGrp="1"/>
          </p:cNvSpPr>
          <p:nvPr>
            <p:ph type="title"/>
          </p:nvPr>
        </p:nvSpPr>
        <p:spPr>
          <a:xfrm>
            <a:off x="1141412" y="618519"/>
            <a:ext cx="10179117" cy="733764"/>
          </a:xfrm>
        </p:spPr>
        <p:txBody>
          <a:bodyPr>
            <a:noAutofit/>
          </a:bodyPr>
          <a:lstStyle/>
          <a:p>
            <a:r>
              <a:rPr lang="en-US" sz="2800" dirty="0">
                <a:solidFill>
                  <a:schemeClr val="bg1"/>
                </a:solidFill>
                <a:latin typeface="Rockwell" panose="02060603020205020403" pitchFamily="18" charset="0"/>
              </a:rPr>
              <a:t>Lesson learned</a:t>
            </a:r>
          </a:p>
        </p:txBody>
      </p:sp>
      <p:sp>
        <p:nvSpPr>
          <p:cNvPr id="5" name="Content Placeholder 4">
            <a:extLst>
              <a:ext uri="{FF2B5EF4-FFF2-40B4-BE49-F238E27FC236}">
                <a16:creationId xmlns:a16="http://schemas.microsoft.com/office/drawing/2014/main" id="{56B56F83-F4E2-10C4-26BE-D323DADF8120}"/>
              </a:ext>
            </a:extLst>
          </p:cNvPr>
          <p:cNvSpPr>
            <a:spLocks noGrp="1"/>
          </p:cNvSpPr>
          <p:nvPr>
            <p:ph idx="1"/>
          </p:nvPr>
        </p:nvSpPr>
        <p:spPr>
          <a:xfrm>
            <a:off x="1141412" y="1352283"/>
            <a:ext cx="9905999" cy="5108807"/>
          </a:xfrm>
        </p:spPr>
        <p:txBody>
          <a:bodyPr>
            <a:normAutofit/>
          </a:bodyPr>
          <a:lstStyle/>
          <a:p>
            <a:pPr marL="457200" indent="-457200">
              <a:buFont typeface="+mj-lt"/>
              <a:buAutoNum type="arabicPeriod"/>
            </a:pPr>
            <a:r>
              <a:rPr lang="en-US" dirty="0">
                <a:solidFill>
                  <a:schemeClr val="bg1"/>
                </a:solidFill>
              </a:rPr>
              <a:t>The system constraints (sensor noise, non-synchronous behavior of the motors, physical non-similarity of the wheels, unbalanced weight etc.) bring unpredictable motion of the robot.  Feedback controller should be capable enough to take care of the system constraints</a:t>
            </a:r>
          </a:p>
          <a:p>
            <a:pPr marL="457200" indent="-457200">
              <a:buFont typeface="+mj-lt"/>
              <a:buAutoNum type="arabicPeriod"/>
            </a:pPr>
            <a:r>
              <a:rPr lang="en-US" dirty="0">
                <a:solidFill>
                  <a:schemeClr val="bg1"/>
                </a:solidFill>
              </a:rPr>
              <a:t>The oscillations during the traveling of the robot seems imminent due to various noise in the system</a:t>
            </a:r>
          </a:p>
          <a:p>
            <a:pPr marL="457200" indent="-457200">
              <a:buFont typeface="+mj-lt"/>
              <a:buAutoNum type="arabicPeriod"/>
            </a:pPr>
            <a:r>
              <a:rPr lang="en-US" dirty="0">
                <a:solidFill>
                  <a:schemeClr val="bg1"/>
                </a:solidFill>
              </a:rPr>
              <a:t>Driving PWM of the motor has to be limited as to avoid too much oscillations and overshoot.  Hence, an upper limit has to be used</a:t>
            </a:r>
          </a:p>
          <a:p>
            <a:pPr marL="457200" indent="-457200">
              <a:buFont typeface="+mj-lt"/>
              <a:buAutoNum type="arabicPeriod"/>
            </a:pPr>
            <a:r>
              <a:rPr lang="en-US" dirty="0">
                <a:solidFill>
                  <a:schemeClr val="bg1"/>
                </a:solidFill>
              </a:rPr>
              <a:t>Continuous monitoring of robot’s position and pose is essential during the feedback controller tune up process</a:t>
            </a:r>
          </a:p>
          <a:p>
            <a:pPr marL="457200" indent="-457200">
              <a:buFont typeface="+mj-lt"/>
              <a:buAutoNum type="arabicPeriod"/>
            </a:pPr>
            <a:endParaRPr lang="en-US" dirty="0">
              <a:solidFill>
                <a:schemeClr val="bg1"/>
              </a:solidFill>
            </a:endParaRPr>
          </a:p>
        </p:txBody>
      </p:sp>
    </p:spTree>
    <p:extLst>
      <p:ext uri="{BB962C8B-B14F-4D97-AF65-F5344CB8AC3E}">
        <p14:creationId xmlns:p14="http://schemas.microsoft.com/office/powerpoint/2010/main" val="345997475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TF77815013_Problem-solution cycle_RVA_v3" id="{20834410-FC37-46AC-ACB7-FB202F8C4BA9}" vid="{1ED24379-BFF7-4E2F-B7EC-A47C906E21A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B579702B-25C7-40D7-9E29-7686B11A9660}">
  <ds:schemaRefs>
    <ds:schemaRef ds:uri="http://schemas.microsoft.com/sharepoint/v3/contenttype/forms"/>
  </ds:schemaRefs>
</ds:datastoreItem>
</file>

<file path=customXml/itemProps2.xml><?xml version="1.0" encoding="utf-8"?>
<ds:datastoreItem xmlns:ds="http://schemas.openxmlformats.org/officeDocument/2006/customXml" ds:itemID="{A7C0B241-13E5-418D-8920-D23491E2D2C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7866CFD-F94E-4AE5-ACEA-86FEC0F48A10}">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
  <TotalTime>20593</TotalTime>
  <Words>544</Words>
  <Application>Microsoft Office PowerPoint</Application>
  <PresentationFormat>Widescreen</PresentationFormat>
  <Paragraphs>40</Paragraphs>
  <Slides>7</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vt:i4>
      </vt:variant>
    </vt:vector>
  </HeadingPairs>
  <TitlesOfParts>
    <vt:vector size="17" baseType="lpstr">
      <vt:lpstr>Arial</vt:lpstr>
      <vt:lpstr>Calibri</vt:lpstr>
      <vt:lpstr>Charis SIL</vt:lpstr>
      <vt:lpstr>LatoWeb</vt:lpstr>
      <vt:lpstr>Rockwell</vt:lpstr>
      <vt:lpstr>Tahoma</vt:lpstr>
      <vt:lpstr>Times New Roman</vt:lpstr>
      <vt:lpstr>Tw Cen MT</vt:lpstr>
      <vt:lpstr>Wingdings</vt:lpstr>
      <vt:lpstr>Circuit</vt:lpstr>
      <vt:lpstr>Differential Drive Robot Targeting a waypoint and a pose - Using Kinematic Models and a Closed Loop Feedback Controller</vt:lpstr>
      <vt:lpstr>Project overview</vt:lpstr>
      <vt:lpstr>System block diagram</vt:lpstr>
      <vt:lpstr>Hardware  schematic</vt:lpstr>
      <vt:lpstr>Odometry formulas used in the project</vt:lpstr>
      <vt:lpstr>problem faced and solved</vt:lpstr>
      <vt:lpstr>Lesson learned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Improved a* search algorithm for Global Path Planning for Mobile Robots with</dc:title>
  <dc:creator>nayan patel</dc:creator>
  <cp:lastModifiedBy>nayan patel</cp:lastModifiedBy>
  <cp:revision>79</cp:revision>
  <dcterms:created xsi:type="dcterms:W3CDTF">2023-03-06T00:57:13Z</dcterms:created>
  <dcterms:modified xsi:type="dcterms:W3CDTF">2023-04-16T15:32:16Z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